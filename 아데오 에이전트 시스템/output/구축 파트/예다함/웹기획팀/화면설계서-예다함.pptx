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7719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71900"/>
            <a:ext cx="12188952" cy="308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ADEO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예다함 홈페이지 리뉴얼 구축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0C4E8"/>
                </a:solidFill>
                <a:latin typeface="맑은 고딕"/>
              </a:rPr>
              <a:t>화면설계서  DE-03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46220"/>
            <a:ext cx="365760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291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3557"/>
                </a:solidFill>
                <a:latin typeface="맑은 고딕"/>
              </a:rPr>
              <a:t>버전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2291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v1.0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491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3557"/>
                </a:solidFill>
                <a:latin typeface="맑은 고딕"/>
              </a:rPr>
              <a:t>작성일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5491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2025-09-05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691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3557"/>
                </a:solidFill>
                <a:latin typeface="맑은 고딕"/>
              </a:rPr>
              <a:t>고객사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8691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(주)예다함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892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3557"/>
                </a:solidFill>
                <a:latin typeface="맑은 고딕"/>
              </a:rPr>
              <a:t>작성자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1892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웹기획팀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목  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03520" cy="3200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FO (Front Office)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320040"/>
          </a:xfrm>
          <a:prstGeom prst="rect">
            <a:avLst/>
          </a:prstGeom>
          <a:solidFill>
            <a:srgbClr val="E8F3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맑은 고딕"/>
              </a:rPr>
              <a:t>FO_001  메인 홈  /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64792"/>
            <a:ext cx="5303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647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맑은 고딕"/>
              </a:rPr>
              <a:t>FO_012  예약 문의하기  /contact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005840"/>
            <a:ext cx="5303520" cy="3200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BO (Back Office)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1417320"/>
            <a:ext cx="5303520" cy="320040"/>
          </a:xfrm>
          <a:prstGeom prst="rect">
            <a:avLst/>
          </a:prstGeom>
          <a:solidFill>
            <a:srgbClr val="E8F3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417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맑은 고딕"/>
              </a:rPr>
              <a:t>BO_001  관리자 대시보드  /admin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764792"/>
            <a:ext cx="53035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17647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A1A2E"/>
                </a:solidFill>
                <a:latin typeface="맑은 고딕"/>
              </a:rPr>
              <a:t>BO_008  예약 문의 목록  /admin/inquiry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FO_001  |  메인 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C4E8"/>
                </a:solidFill>
                <a:latin typeface="맑은 고딕"/>
              </a:rPr>
              <a:t>URL: /   |   버전: v1.2   |   관련화면: FO_012 (예약문의)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C4E8"/>
                </a:solidFill>
                <a:latin typeface="맑은 고딕"/>
              </a:rPr>
              <a:t>1 /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6217920" cy="493776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┌─────────────────────────────────────────────────────────┐
│  [LOGO 예다함]      홈  소개  예식홀  패키지  갤러리  문의  │  ← GNB
├─────────────────────────────────────────────────────────┤
│                                                          │
│            ┌─────────────────────────────┐              │
│            │   HERO SLIDER  (Full-Width)  │              │
│            │   · 이미지 3~5장 자동 전환   │              │
│            │   · 슬라이드 인디케이터 (●●○) │              │
│            │                              │              │
│            │  [예약 문의하기  →]  CTA버튼  │              │
│            └─────────────────────────────┘              │
├─────────────────────────────────────────────────────────┤
│  SECTION 2 — 예식홀 미리보기 (3 COLUMN CARD)           │
│  ┌──────────┐  ┌──────────┐  ┌──────────┐              │
│  │ 그랜드홀 │  │ 웨딩홀A  │  │ 웨딩홀B  │              │
│  │ [이미지] │  │ [이미지] │  │ [이미지] │              │
│  │ 수용:500 │  │ 수용:200 │  │ 수용:100 │              │
│  │ [자세히] │  │ [자세히] │  │ [자세히] │              │
│  └──────────┘  └──────────┘  └──────────┘              │
├─────────────────────────────────────────────────────────┤
│  SECTION 3 — 패키지 미리보기 (2 COLUMN)                │
│  ┌───────────────────┐  ┌───────────────────┐           │
│  │   웨딩 패키지     │  │   스드메 패키지   │           │
│  │   [이미지+설명]   │  │   [이미지+설명]   │           │
│  │   [패키지 보기→]  │  │   [패키지 보기→]  │           │
│  └───────────────────┘  └───────────────────┘           │
├─────────────────────────────────────────────────────────┤
│  SECTION 4 — 최근 이벤트 (3 CARD)                      │
│  [이벤트1] [이벤트2] [이벤트3]    [전체보기→]           │
├─────────────────────────────────────────────────────────┤
│  SECTION 5 — 오시는 길 (카카오맵 임베드)               │
│  [지도]  주소 / 대중교통 / 자가용 안내                  │
├─────────────────────────────────────────────────────────┤
│  [FOOTER] 회사정보 | 개인정보처리방침 | 사이트맵        │
└─────────────────────────────────────────────────────────┘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868680"/>
          <a:ext cx="530351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211"/>
                <a:gridCol w="1166774"/>
                <a:gridCol w="742492"/>
                <a:gridCol w="3076041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GNB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공통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1depth 메뉴 수평 배치, 모바일 햄버거 변환, 스크롤 시 fixed 상단 고정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Hero Slider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슬라이더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이미지 3~5장 자동 전환(5초), 수동 좌우 화살표, 인디케이터 점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CTA 버튼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버튼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클릭 시 /contact 예약 문의 페이지 이동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예식홀 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3개 홀 썸네일+명칭+수용인원 표시, 클릭 시 해당 홀 페이지 이동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패키지 배너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배너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2개 패키지 이미지+설명, 클릭 시 패키지 상세 이동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이벤트 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카드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최근 이벤트 3건 노출(DB), 전체보기 클릭 시 /notice 이동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카카오맵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외부API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카카오맵 API 임베드, 마커+인포윈도우 표시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Footer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공통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회사 정보, 개인정보처리방침 링크, 사이트맵 링크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675120" y="3639312"/>
            <a:ext cx="5303520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6393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화면 조건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75120" y="3931920"/>
          <a:ext cx="53035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985"/>
                <a:gridCol w="3818534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3557"/>
                          </a:solidFill>
                          <a:latin typeface="맑은 고딕"/>
                        </a:rPr>
                        <a:t>조건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3557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로그인 여부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비로그인 접근 가능 (공개 페이지)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반응형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PC 1280px / 태블릿 768px / 모바일 375px 3단계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슬라이더 이미지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BO_007 배너 관리에서 최신 순 로드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ADEO GROUP  |  화면설계서  DE-03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FO_012  |  예약 문의하기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C4E8"/>
                </a:solidFill>
                <a:latin typeface="맑은 고딕"/>
              </a:rPr>
              <a:t>URL: /contact   |   버전: v1.1   |   관련화면: BO_008 (문의관리)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C4E8"/>
                </a:solidFill>
                <a:latin typeface="맑은 고딕"/>
              </a:rPr>
              <a:t>2 /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6217920" cy="493776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┌─────────────────────────────────────────────────────────┐
│  [GNB]                                                   │
├─────────────────────────────────────────────────────────┤
│              예약 문의하기                               │
│  ──────────────────────────────────────                  │
│                                                          │
│  ┌─────────────────────────────────────────────────┐    │
│  │  이름 *          [___________________________]  │    │
│  │  연락처 *        [010-____-____]                │    │
│  │  이메일 *        [___________@_______.___]      │    │
│  │  희망 예식일 *   [📅 날짜 선택]                 │    │
│  │  희망 홀 *       [▼ 그랜드홀 / 웨딩홀A / B]    │    │
│  │  예상 하객 수 *  [___] 명                       │    │
│  │                                                  │    │
│  │  문의 내용       ┌──────────────────────────┐   │    │
│  │                  │  자유롭게 입력해주세요   │   │    │
│  │                  └──────────────────────────┘   │    │
│  │                                                  │    │
│  │  [ ] 개인정보 수집·이용 동의 (필수)  [내용보기]  │    │
│  │                                                  │    │
│  │              [문의 보내기]                       │    │
│  └─────────────────────────────────────────────────┘    │
│                                                          │
│  💡 평일 09:00~18:00 운영 / 빠른 답변 도와드립니다      │
├─────────────────────────────────────────────────────────┤
│  [FOOTER]                                                │
└─────────────────────────────────────────────────────────┘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868680"/>
          <a:ext cx="5303518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211"/>
                <a:gridCol w="1166774"/>
                <a:gridCol w="742492"/>
                <a:gridCol w="3076041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이름 입력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Input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텍스트 입력, 필수값 검증, 2자 이상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연락처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숫자+하이픈 자동 포맷팅 (010-XXXX-XXXX), 필수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이메일 입력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Input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이메일 형식 검증, 필수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날짜 선택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Datepicker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달력 팝업, 오늘 이후 날짜만 선택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홀 선택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Select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그랜드홀 / 웨딩홀A / 웨딩홀B 3개 옵션, 필수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문의 내용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Textarea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500자 이내, 선택 입력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개인정보 동의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Checkbox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필수 체크, 미동의 시 제출 불가, '내용보기' 레이어 팝업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문의 보내기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필수값 미입력 시 인라인 에러, 제출 성공 시 완료 메시지 + 이메일 알림 발송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675120" y="3639312"/>
            <a:ext cx="5303520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639312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화면 조건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75120" y="3931920"/>
          <a:ext cx="53035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985"/>
                <a:gridCol w="3818534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3557"/>
                          </a:solidFill>
                          <a:latin typeface="맑은 고딕"/>
                        </a:rPr>
                        <a:t>조건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3557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로그인 여부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비로그인 접근 가능 (공개 폼)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반응형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모바일 폼 단일 컬럼, 입력 영역 풀 너비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개인정보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수집 목적: 예약 문의 처리, 보유기간: 처리 완료 후 3년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ADEO GROUP  |  화면설계서  DE-03  |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BO_001  |  관리자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C4E8"/>
                </a:solidFill>
                <a:latin typeface="맑은 고딕"/>
              </a:rPr>
              <a:t>URL: /admin   |   버전: v1.0   |   관련화면: BO_008 (문의목록)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C4E8"/>
                </a:solidFill>
                <a:latin typeface="맑은 고딕"/>
              </a:rPr>
              <a:t>3 /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6217920" cy="493776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┌─────────────────────────────────────────────────────────┐
│  ADEO │ 예다함 관리자        [관리자명 ▼]  [로그아웃]      │  ← Top Bar
├────────┬────────────────────────────────────────────────┤
│ 사이드 │  대시보드                                        │
│  메뉴  ├────────────────────────────────────────────────┤
│        │  ┌──────────┐ ┌──────────┐ ┌──────────┐       │
│ 대시보드│  │ 오늘 문의 │ │ 미처리   │ │ 이번달   │       │
│ 콘텐츠  │  │   12 건  │ │  3 건    │ │  47 건   │       │
│  공지  │  └──────────┘ └──────────┘ └──────────┘       │
│  갤러리│  ┌──────────────────────────────────────────┐  │
│  패키지│  │  최근 7일 문의 현황 (라인 차트)           │  │
│  배너  │  │  ─────────────────────────────────────── │  │
│ 문의관리│  │  Mon Tue Wed Thu Fri Sat Sun             │  │
│  문의  │  └──────────────────────────────────────────┘  │
│ 시스템  │  ┌──────────────────┐ ┌─────────────────────┐ │
│  메뉴  │  │  최근 공지 (3건)  │ │  미처리 문의 (3건)  │ │
│  팝업  │  │  · 이벤트 공지   │ │  · 홍길동 (어제)    │ │
│  계정  │  │  · 연말 이벤트   │ │  · 김철수 (2일전)   │ │
│        │  │  · 시스템 점검   │ │  · 이영희 (3일전)   │ │
│        │  └──────────────────┘ └─────────────────────┘ │
└────────┴────────────────────────────────────────────────┘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868680"/>
          <a:ext cx="5303518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211"/>
                <a:gridCol w="1166774"/>
                <a:gridCol w="742492"/>
                <a:gridCol w="3076041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Top Bar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공통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로그인 관리자명 표시, 로그아웃 버튼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사이드바 메뉴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공통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전체 BO 메뉴 트리, 현재 위치 하이라이트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통계 카드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위젯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오늘 문의 건수 / 미처리 건수 / 이번달 건수 실시간 집계(DB)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문의 차트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차트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최근 7일 일별 문의 건수 라인 차트 (Chart.js)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최근 공지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목록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최근 등록 공지 3건, 클릭 시 공지 수정 페이지 이동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미처리 문의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목록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미처리 문의 3건, 클릭 시 문의 상세 이동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675120" y="3054096"/>
            <a:ext cx="5303520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0540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화면 조건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75120" y="3346704"/>
          <a:ext cx="53035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985"/>
                <a:gridCol w="3818534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3557"/>
                          </a:solidFill>
                          <a:latin typeface="맑은 고딕"/>
                        </a:rPr>
                        <a:t>조건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3557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로그인 여부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로그인 필수 — 미로그인 시 /admin/login 리다이렉트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반응형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태블릿 이상 사이드바 고정, 모바일 사이드바 토글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권한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관리자 권한 계정만 접근 가능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ADEO GROUP  |  화면설계서  DE-03  |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BO_008  |  예약 문의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38912"/>
            <a:ext cx="6400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0C4E8"/>
                </a:solidFill>
                <a:latin typeface="맑은 고딕"/>
              </a:rPr>
              <a:t>URL: /admin/inquiry   |   버전: v1.0   |   관련화면: BO_009 (문의상세), FO_012 (문의폼)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286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0C4E8"/>
                </a:solidFill>
                <a:latin typeface="맑은 고딕"/>
              </a:rPr>
              <a:t>4 / 4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868680"/>
            <a:ext cx="6217920" cy="4937760"/>
          </a:xfrm>
          <a:prstGeom prst="rect">
            <a:avLst/>
          </a:prstGeom>
          <a:solidFill>
            <a:srgbClr val="F5F7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A1A2E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┌─────────────────────────────────────────────────────────┐
│  [Top Bar]                                               │
├────────┬────────────────────────────────────────────────┤
│ 사이드 │  예약 문의 관리                                  │
│  메뉴  ├──────────────────────────────────────────────  │
│        │  ┌──────────────────────────────────────────┐  │
│        │  │ 기간: [____]~[____]  상태: [▼전체]       │  │
│        │  │ 홀: [▼전체]          [🔍 조회]  [초기화]  │  │
│        │  └──────────────────────────────────────────┘  │
│        │                                    [엑셀 다운↓] │
│        │  ┌────┬──────┬──────┬────┬────┬──────┬──────┐ │
│        │  │ NO │ 이름 │ 연락처│ 날짜│ 홀 │ 상태  │ 관리 │ │
│        │  ├────┼──────┼──────┼────┼────┼──────┼──────┤ │
│        │  │  1 │홍길동│010-..│1/15│그랜│미처리 │[상세]│ │
│        │  │  2 │김철수│010-..│1/20│홀A │처리중 │[상세]│ │
│        │  │  3 │이영희│010-..│2/05│홀B │완료   │[상세]│ │
│        │  ├────┴──────┴──────┴────┴────┴──────┴──────┤ │
│        │  │  ← 1  2  3  →    총 47건 / 10건 per page │ │
│        │  └──────────────────────────────────────────┘  │
└────────┴────────────────────────────────────────────────┘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0" y="868680"/>
          <a:ext cx="5303518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211"/>
                <a:gridCol w="1166774"/>
                <a:gridCol w="742492"/>
                <a:gridCol w="3076041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No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컴포넌트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타입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기능 설명</a:t>
                      </a:r>
                    </a:p>
                  </a:txBody>
                  <a:tcPr>
                    <a:solidFill>
                      <a:srgbClr val="1C355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검색 필터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Form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기간 범위 선택, 처리 상태(전체/미처리/처리중/완료), 희망 홀 필터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엑셀 다운로드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Button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현재 필터 조건 기준 목록 .xlsx 다운로드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목록 테이블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Table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문의 목록 표시, 컬럼: NO/이름/연락처/희망날짜/홀/상태/관리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상태 배지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Badge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미처리(빨강)/처리중(주황)/완료(초록) 색상 구분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상세 버튼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Button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클릭 시 /admin/inquiry/:id 상세 페이지 이동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페이지네이션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Paging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페이지당 10건, 이전/다음/번호 이동, 총 건수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675120" y="3054096"/>
            <a:ext cx="5303520" cy="2926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3054096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화면 조건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675120" y="3346704"/>
          <a:ext cx="53035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4985"/>
                <a:gridCol w="3818534"/>
              </a:tblGrid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3557"/>
                          </a:solidFill>
                          <a:latin typeface="맑은 고딕"/>
                        </a:rPr>
                        <a:t>조건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C3557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로그인 여부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로그인 필수 — 관리자 권한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반응형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태블릿 이상 최적화 (테이블 가로 스크롤 허용)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정렬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A1A2E"/>
                          </a:solidFill>
                          <a:latin typeface="맑은 고딕"/>
                        </a:rPr>
                        <a:t>기본 최신 문의 순(등록일 DESC)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60196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888888"/>
                </a:solidFill>
                <a:latin typeface="맑은 고딕"/>
              </a:rPr>
              <a:t>ADEO GROUP  |  화면설계서  DE-03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